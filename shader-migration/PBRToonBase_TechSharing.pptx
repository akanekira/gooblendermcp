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1A1A1A"/>
                </a:solidFill>
                <a:latin typeface="Consolas"/>
              </a:defRPr>
            </a:pPr>
            <a:r>
              <a:t>PBRToonBase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666666"/>
                </a:solidFill>
                <a:latin typeface="Microsoft YaHei"/>
              </a:defRPr>
            </a:pPr>
            <a:r>
              <a:t>PBR + Toon 混合渲染管线技术分享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33295" cy="228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999999"/>
                </a:solidFill>
                <a:latin typeface="Microsoft YaHei"/>
              </a:defRPr>
            </a:pPr>
            <a:r>
              <a:t>Arknights: Endfield  |  Goo Engine 4.4  |  Blender 4.4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99999"/>
                </a:solidFill>
                <a:latin typeface="Microsoft YaHei"/>
              </a:defRPr>
            </a:pPr>
            <a:r>
              <a:t>437 节点  |  15 个 Frame 模块  |  20 个子群组  |  51 个参数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5029200"/>
            <a:ext cx="283464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5074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9999"/>
                </a:solidFill>
                <a:latin typeface="Microsoft YaHei"/>
              </a:defRPr>
            </a:pPr>
            <a:r>
              <a:t>基准材质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5394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M_actor_pelica_cloth_04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5029200"/>
            <a:ext cx="283464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5074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9999"/>
                </a:solidFill>
                <a:latin typeface="Microsoft YaHei"/>
              </a:defRPr>
            </a:pPr>
            <a:r>
              <a:t>主节点群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5394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Arknights: Endfield_PBRToonBase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5029200"/>
            <a:ext cx="283464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5074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9999"/>
                </a:solidFill>
                <a:latin typeface="Microsoft YaHei"/>
              </a:defRPr>
            </a:pPr>
            <a:r>
              <a:t>代码产出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5394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hlsl/PBRToonBase.hlsl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Microsoft YaHei"/>
              </a:defRPr>
            </a:pPr>
            <a:r>
              <a:t>1. 方案概述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Microsoft YaHei"/>
              </a:defRPr>
            </a:pPr>
            <a:r>
              <a:t>PBR + Toon 混合架构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69848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PBRToonBase 是一套面向角色材质的混合渲染方案。以物理正确的微表面模型（GGX、能量守恒）为基础，通过 SigmoidSharp 阶跃函数和 Ramp 色带采样将光照响应风格化为卡通阴影，同时叠加边缘色、屏幕空间 Rim、视角色变等风格化效果。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3383280" cy="3474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Microsoft YaHei"/>
              </a:defRPr>
            </a:pPr>
            <a:r>
              <a:t>PBR 物理基础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301752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Cook-Torrance GGX 微表面模型</a:t>
            </a:r>
          </a:p>
          <a:p>
            <a:pPr>
              <a:spcBef>
                <a:spcPts val="8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Schlick Fresnel 菲涅尔</a:t>
            </a:r>
          </a:p>
          <a:p>
            <a:pPr>
              <a:spcBef>
                <a:spcPts val="8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Smith-Joint 可见性函数</a:t>
            </a:r>
          </a:p>
          <a:p>
            <a:pPr>
              <a:spcBef>
                <a:spcPts val="8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Kulla-Conty 能量守恒补偿</a:t>
            </a:r>
          </a:p>
          <a:p>
            <a:pPr>
              <a:spcBef>
                <a:spcPts val="8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FGD LUT 预积分查询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651760"/>
            <a:ext cx="3383280" cy="3474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Microsoft YaHei"/>
              </a:defRPr>
            </a:pPr>
            <a:r>
              <a:t>Toon 风格化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39" y="3200400"/>
            <a:ext cx="301752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329184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SigmoidSharp 阶跃函数</a:t>
            </a:r>
          </a:p>
          <a:p>
            <a:pPr>
              <a:spcBef>
                <a:spcPts val="8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Ramp LUT 色带采样</a:t>
            </a:r>
          </a:p>
          <a:p>
            <a:pPr>
              <a:spcBef>
                <a:spcPts val="8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离散化阴影色带</a:t>
            </a:r>
          </a:p>
          <a:p>
            <a:pPr>
              <a:spcBef>
                <a:spcPts val="8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双路阴影（自阴影 + 投影）</a:t>
            </a:r>
          </a:p>
          <a:p>
            <a:pPr>
              <a:spcBef>
                <a:spcPts val="8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全局阴影亮度调节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651760"/>
            <a:ext cx="3383280" cy="3474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Microsoft YaHei"/>
              </a:defRPr>
            </a:pPr>
            <a:r>
              <a:t>风格化叠加效果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3200400"/>
            <a:ext cx="301752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329184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Toon Fresnel 边缘色</a:t>
            </a:r>
          </a:p>
          <a:p>
            <a:pPr>
              <a:spcBef>
                <a:spcPts val="8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屏幕空间深度 Rim 光</a:t>
            </a:r>
          </a:p>
          <a:p>
            <a:pPr>
              <a:spcBef>
                <a:spcPts val="8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ThinFilm 视角色变（彩虹）</a:t>
            </a:r>
          </a:p>
          <a:p>
            <a:pPr>
              <a:spcBef>
                <a:spcPts val="8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SimpleTransmission 伪透射</a:t>
            </a:r>
          </a:p>
          <a:p>
            <a:pPr>
              <a:spcBef>
                <a:spcPts val="8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自发光 Emission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Frame 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子群组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Microsoft YaHei"/>
              </a:defRPr>
            </a:pPr>
            <a:r>
              <a:t>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参数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功能开关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Microsoft YaHei"/>
              </a:defRPr>
            </a:pPr>
            <a:r>
              <a:t>2. 渲染管线总览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Microsoft YaHei"/>
              </a:defRPr>
            </a:pPr>
            <a:r>
              <a:t>15 个 Frame 模块按序组装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303520" cy="548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贴图输入</a:t>
            </a:r>
          </a:p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_D / _N / _P / _E 贴图解包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初始化</a:t>
            </a:r>
          </a:p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Frame.012 几何向量 N/V/L/T/B + 点积</a:t>
            </a:r>
          </a:p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Frame.013 贴图拆通道 + PBR 参数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5303520" cy="548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前处理</a:t>
            </a:r>
          </a:p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Frame.069 伪透射 — 修改 albedo</a:t>
            </a:r>
          </a:p>
        </p:txBody>
      </p:sp>
      <p:sp>
        <p:nvSpPr>
          <p:cNvPr id="8" name="Down Arrow 7"/>
          <p:cNvSpPr/>
          <p:nvPr/>
        </p:nvSpPr>
        <p:spPr>
          <a:xfrm>
            <a:off x="3108960" y="1645920"/>
            <a:ext cx="182880" cy="13716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3108960" y="2514600"/>
            <a:ext cx="182880" cy="27432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3749039"/>
            <a:ext cx="246888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漫反射 DiffuseBRDF</a:t>
            </a:r>
          </a:p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SigmoidSharp 阶跃</a:t>
            </a:r>
          </a:p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Ramp 色带采样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749039"/>
            <a:ext cx="25603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高光反射 SpecularBRDF</a:t>
            </a:r>
          </a:p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Cook-Torrance GGX</a:t>
            </a:r>
          </a:p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等向 / 各向异性可选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46320"/>
            <a:ext cx="2468880" cy="411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ShadowAdjust 阴影调节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645920" y="4663440"/>
            <a:ext cx="182880" cy="18288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5440680"/>
            <a:ext cx="53035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IndirectLighting — FGD LUT + Kulla-Conty 能量守恒 + 直接光与间接光汇合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645920" y="5257800"/>
            <a:ext cx="182880" cy="18288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4480560" y="4663440"/>
            <a:ext cx="182880" cy="77724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Microsoft YaHei"/>
              </a:defRPr>
            </a:pPr>
            <a:r>
              <a:t>风格化效果叠加（ADD）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645920"/>
            <a:ext cx="4846320" cy="731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691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onsolas"/>
              </a:defRPr>
            </a:pPr>
            <a:r>
              <a:t>Frame.008  ToonFresnel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9933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基于视角的 Toon 边缘色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869680" y="2377440"/>
            <a:ext cx="182880" cy="18288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0" y="2560320"/>
            <a:ext cx="4846320" cy="731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onsolas"/>
              </a:defRPr>
            </a:pPr>
            <a:r>
              <a:t>Frame.009  Rim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9077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屏幕空间深度边缘光，四因子遮罩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869680" y="3291840"/>
            <a:ext cx="182880" cy="18288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0" y="3474720"/>
            <a:ext cx="4846320" cy="731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3520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onsolas"/>
              </a:defRPr>
            </a:pPr>
            <a:r>
              <a:t>Frame.010  Emission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8221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自发光通道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869680" y="4206240"/>
            <a:ext cx="182880" cy="18288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83680" y="4389120"/>
            <a:ext cx="4846320" cy="731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4434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onsolas"/>
              </a:defRPr>
            </a:pPr>
            <a:r>
              <a:t>Frame.011  ThinFilmFilter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736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视角色变，RS LUT 彩虹效果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8869680" y="5120640"/>
            <a:ext cx="182880" cy="18288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83680" y="5303520"/>
            <a:ext cx="4846320" cy="731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5349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onsolas"/>
              </a:defRPr>
            </a:pPr>
            <a:r>
              <a:t>Frame.014  Alpha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6509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最终透明度输出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Microsoft YaHei"/>
              </a:defRPr>
            </a:pPr>
            <a:r>
              <a:t>3.1 直接漫反射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Microsoft YaHei"/>
              </a:defRPr>
            </a:pPr>
            <a:r>
              <a:t>Frame.005 DiffuseBRDF + Frame.007 ShadowAdjust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Microsoft YaHei"/>
              </a:defRPr>
            </a:pPr>
            <a:r>
              <a:t>SigmoidSharp 阶跃函数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0" cy="2103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将连续的 NdotL 光照响应转化为离散的阴影色带，实现手绘感卡通阴影。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底数 = 100000（非自然指数），产生极其陡峭的 S 曲线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center 控制阴影分界线位置（NdotL 到多大时开始过渡）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sharp 控制边缘锐度（值越大，阴影边界越硬）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与 smoothstep 不同，过渡区域可收窄到接近零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Microsoft YaHei"/>
              </a:defRPr>
            </a:pPr>
            <a:r>
              <a:t>双路阴影合并 + Ramp 采样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228600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自阴影 NoL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645920"/>
            <a:ext cx="228600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投影阴影 CastShadow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7452360" y="2103120"/>
            <a:ext cx="182880" cy="18288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10195560" y="2103120"/>
            <a:ext cx="182880" cy="18288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377440"/>
            <a:ext cx="2286000" cy="411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100" b="1">
                <a:solidFill>
                  <a:srgbClr val="333333"/>
                </a:solidFill>
                <a:latin typeface="Microsoft YaHei"/>
              </a:defRPr>
            </a:pPr>
            <a:r>
              <a:t>SigmoidSharp</a:t>
            </a:r>
          </a:p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(center_HL, sharp_HL)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377440"/>
            <a:ext cx="2286000" cy="411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100" b="1">
                <a:solidFill>
                  <a:srgbClr val="333333"/>
                </a:solidFill>
                <a:latin typeface="Microsoft YaHei"/>
              </a:defRPr>
            </a:pPr>
            <a:r>
              <a:t>SigmoidSharp</a:t>
            </a:r>
          </a:p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(center_CS, sharp_CS)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7452360" y="2788920"/>
            <a:ext cx="182880" cy="22860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10195560" y="2788920"/>
            <a:ext cx="182880" cy="22860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79" y="3108960"/>
            <a:ext cx="3474720" cy="411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min() 取暗合并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144000" y="3520440"/>
            <a:ext cx="182880" cy="22860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0" y="3840480"/>
            <a:ext cx="4572000" cy="411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Ramp LUT 查表</a:t>
            </a:r>
          </a:p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UV(X=阴影值, Y=0.5) -&gt; RampSelect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480560"/>
            <a:ext cx="5029200" cy="1554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5720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Ramp 色带特点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919472"/>
            <a:ext cx="466344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956048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Ramp LUT 支持 5 行，通过 _P.A 通道选择不同色带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不同材质区域可使用不同 Ramp 行，一个 Shader 多种阴影风格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rampAlpha 传递到 ShadowAdjust 驱动全局阴影亮度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最终漫反射公式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97680"/>
            <a:ext cx="502920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Bef>
                <a:spcPts val="200"/>
              </a:spcBef>
              <a:defRPr sz="1400">
                <a:solidFill>
                  <a:srgbClr val="333333"/>
                </a:solidFill>
                <a:latin typeface="Consolas"/>
              </a:defRPr>
            </a:pPr>
            <a:r>
              <a:t>directDiffuse = rampColor * diffuseColor * lightColor * directOcclusion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029200"/>
            <a:ext cx="5029200" cy="1005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0749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directOcclusion 由 AO 贴图和 _directOcclusionColor 混合得到，控制遮蔽区域的色调。投影阴影可独立调软硬，自阴影可以更柔和（半调渐变），投影保持硬边。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Microsoft YaHei"/>
              </a:defRPr>
            </a:pPr>
            <a:r>
              <a:t>3.2 直接高光反射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Microsoft YaHei"/>
              </a:defRPr>
            </a:pPr>
            <a:r>
              <a:t>Frame.004 SpecularBRDF  |  Cook-Torrance F * D * 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029200" cy="2743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等向 GGX（标准模式）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36192"/>
            <a:ext cx="466344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基于 Cook-Torrance 微表面模型：F * D * V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F = Schlick Fresnel，fresnel0 由金属度在 0.04 和 albedo 间插值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D = GGX 法线分布函数，单一粗糙度参数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V = Smith-Joint 可见性函数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适用于大多数非布料材质（金属、皮革等）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各方向高光形状一致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029200" cy="2743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各向异性 GGX（布料/拉丝金属）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536192"/>
            <a:ext cx="466344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572768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T/B 轴粗糙度分离，产生方向性拉长高光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roughnessT / roughnessB 分别控制两个轴向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适用于布料、拉丝金属等具有方向性纹理的材质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沿纹理方向产生拉长的高光条纹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SmoothnessMaxT / SmoothnessMaxB 独立可调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Microsoft YaHei"/>
              </a:defRPr>
            </a:pPr>
            <a:r>
              <a:t>三级控制体系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338328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663440"/>
            <a:ext cx="365760" cy="3657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663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总开关 _UseAnisotropy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关闭时直接使用等向 GGX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4572000"/>
            <a:ext cx="338328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17719" y="4663440"/>
            <a:ext cx="365760" cy="3657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19" y="4663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子开关 _UseToonAniso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39" y="50749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各向异性分支内的 Toon 变体选择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572000"/>
            <a:ext cx="338328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66760" y="4663440"/>
            <a:ext cx="365760" cy="3657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4663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遮罩 _AnisotropicMask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0749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逐区域加权，材质不同部位使用不同高光模式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852160"/>
            <a:ext cx="1069848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897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两种高光模式共用同一 Schlick Fresnel：F_Schlick(fresnel0, 1, LdotH)，其中 fresnel0 = lerp(0.04, albedo, metallic)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Microsoft YaHei"/>
              </a:defRPr>
            </a:pPr>
            <a:r>
              <a:t>3.3 间接光照与能量守恒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Microsoft YaHei"/>
              </a:defRPr>
            </a:pPr>
            <a:r>
              <a:t>Frame.006 IndirectLighting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97280"/>
            <a:ext cx="365760" cy="3657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Microsoft YaHei"/>
              </a:defRPr>
            </a:pPr>
            <a:r>
              <a:t>FGD LUT 预积分查询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303520" cy="2286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输入 (NdotV, perceptualRoughness) 查询 2D LUT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输出 specularFGD（预积分 Fresnel-GGX）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输出 diffuseFGD（Disney 漫反射积分项）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输出 reflectivity（总反射率 r）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LUT 布局：R=B项, G=A+B(反射率), B=Disney Diffuse</a:t>
            </a:r>
          </a:p>
        </p:txBody>
      </p:sp>
      <p:sp>
        <p:nvSpPr>
          <p:cNvPr id="9" name="Oval 8"/>
          <p:cNvSpPr/>
          <p:nvPr/>
        </p:nvSpPr>
        <p:spPr>
          <a:xfrm>
            <a:off x="6355080" y="1097280"/>
            <a:ext cx="365760" cy="3657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Microsoft YaHei"/>
              </a:defRPr>
            </a:pPr>
            <a:r>
              <a:t>Kulla-Conty 能量守恒补偿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54480"/>
            <a:ext cx="5303520" cy="2286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4592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标准微表面 BRDF 只考虑单次散射，粗糙表面多重散射能量损失可达 30%+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ecFactor = 1/reflectivity - 1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光滑表面（r-&gt;1）：ecFactor-&gt;0，无需补偿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粗糙表面（r~0.5）：ecFactor~1.0，补偿最强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14800"/>
            <a:ext cx="365760" cy="3657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路径 A — 修正直接高光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53035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177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666666"/>
                </a:solidFill>
                <a:latin typeface="Consolas"/>
              </a:defRPr>
            </a:pPr>
            <a:r>
              <a:t>energyCompFactor = F0 * ecFactor + 1.0</a:t>
            </a:r>
          </a:p>
          <a:p>
            <a:pPr>
              <a:spcBef>
                <a:spcPts val="4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放大直接高光中因多重散射丢失的能量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4114800"/>
            <a:ext cx="365760" cy="3657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路径 B — 补充间接高光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572000"/>
            <a:ext cx="53035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6177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666666"/>
                </a:solidFill>
                <a:latin typeface="Consolas"/>
              </a:defRPr>
            </a:pPr>
            <a:r>
              <a:t>indirectSpecComp = ecFactor * specularFGD</a:t>
            </a:r>
          </a:p>
          <a:p>
            <a:pPr>
              <a:spcBef>
                <a:spcPts val="4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以间接高光形式补充半球各方向散射能量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最终光照汇合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6126480"/>
            <a:ext cx="1069848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Bef>
                <a:spcPts val="200"/>
              </a:spcBef>
              <a:defRPr sz="1400">
                <a:solidFill>
                  <a:srgbClr val="333333"/>
                </a:solidFill>
                <a:latin typeface="Consolas"/>
              </a:defRPr>
            </a:pPr>
            <a:r>
              <a:t>totalLighting = correctedSpecular + directDiffuse + indirectSpecComp + indirectDiffuse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Microsoft YaHei"/>
              </a:defRPr>
            </a:pPr>
            <a:r>
              <a:t>4.1-4.2 Toon Fresnel 边缘色 &amp; 屏幕空间 Rim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Microsoft YaHei"/>
              </a:defRPr>
            </a:pPr>
            <a:r>
              <a:t>Frame.008 + Frame.009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029200" cy="2743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Toon Fresnel 边缘色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36192"/>
            <a:ext cx="466344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基于视角的边缘色调偏移，在角色轮廓处施加风格化色彩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_ToonfresnelPow 控制 Fresnel 衰减速度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SmoothStep(L, H) 裁切和软化边缘范围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内/外双色混合：正面 fresnelInsideColor，掠射角过渡到 fresnelOutsideColor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最终输出 = 颜色 * 权重，权重由视角驱动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本质是对 PBR 结果做视角相关的色调偏移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Microsoft YaHei"/>
              </a:defRPr>
            </a:pPr>
            <a:r>
              <a:t>屏幕空间深度 Rim 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与传统 Fresnel Rim 不同，使用屏幕空间深度差检测作为主要轮廓判据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502920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Bef>
                <a:spcPts val="200"/>
              </a:spcBef>
              <a:defRPr sz="1300">
                <a:solidFill>
                  <a:srgbClr val="333333"/>
                </a:solidFill>
                <a:latin typeface="Consolas"/>
              </a:defRPr>
            </a:pPr>
            <a:r>
              <a:t>rimMask = DepthRim * FresnelAtten * DirLightAtten * VerticalAtten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606040"/>
            <a:ext cx="246888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651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onsolas"/>
              </a:defRPr>
            </a:pPr>
            <a:r>
              <a:t>DepthRim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971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法线方向偏移采样深度图</a:t>
            </a:r>
          </a:p>
          <a:p>
            <a:pPr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深度突变处（物体边缘）产生 Rim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606040"/>
            <a:ext cx="246888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651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onsolas"/>
              </a:defRPr>
            </a:pPr>
            <a:r>
              <a:t>FresnelAtten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971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(1-NoV)^4</a:t>
            </a:r>
          </a:p>
          <a:p>
            <a:pPr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掠射角加强，正对相机处抑制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977639"/>
            <a:ext cx="246888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02335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onsolas"/>
              </a:defRPr>
            </a:pPr>
            <a:r>
              <a:t>DirLightAtten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34339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lerp(atten, 1, saturate(NoL))</a:t>
            </a:r>
          </a:p>
          <a:p>
            <a:pPr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光照方向响应，可控背光侧保留量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977639"/>
            <a:ext cx="246888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402335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onsolas"/>
              </a:defRPr>
            </a:pPr>
            <a:r>
              <a:t>VerticalAtten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434339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saturate(normalWS.y)</a:t>
            </a:r>
          </a:p>
          <a:p>
            <a:pPr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顶部强、底部弱，防止脚底 Rim 过亮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349240"/>
            <a:ext cx="50292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54406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Rim 特性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5788152"/>
            <a:ext cx="466344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5824728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min(depthRim, 0.5) 截断贡献上限，防止过曝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LoV 调制：光线背面加强、正面减弱，避免高光重叠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最终 Rim = rimColor * rimMask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114800"/>
            <a:ext cx="502920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2062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自发光 Emission（Frame.010）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553712"/>
            <a:ext cx="466344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590288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直接叠加 _E 贴图 RGB 到最终结果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不受光照方向和阴影影响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独立的自发光强度参数控制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Microsoft YaHei"/>
              </a:defRPr>
            </a:pPr>
            <a:r>
              <a:t>4.3-4.4 视角色变 &amp; 伪透射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Microsoft YaHei"/>
              </a:defRPr>
            </a:pPr>
            <a:r>
              <a:t>Frame.011 ThinFilmFilter | Frame.069 SimpleTransmission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029200" cy="2926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ThinFilmFilter 视角色变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36192"/>
            <a:ext cx="466344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在角色边缘产生彩虹/光泽色变效果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模拟薄膜干涉或特殊织物反光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双 RS 贴图（Aurora / Yvonne）：不同角色使用不同色变纹理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通过 _RS_Index 混合两张贴图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Facing 驱动 1D LUT：仅用视角作为 X 轴（Y 固定 0.5）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光照调制：阴影区域不叠加色变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LIGHTEN 混合：max(base, rs) 取亮值，只增亮不减暗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029200" cy="2926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SimpleTransmission 伪透射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536192"/>
            <a:ext cx="466344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572768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通过屏幕空间采样模拟半透明材质的透射效果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在管线最前端执行，修改 albedo 后影响后续所有漫反射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菲涅尔偏移：边缘处采样到更远的背景，产生折射扭曲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IOR = 1.25，默认混合强度 0.65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采样 _CameraOpaqueTexture 获取背景场景色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lerp(sceneColor, albedo, _SimpleTransmissionValue) 混合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_UseSimpleTransmission 开关控制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伪透射在管线中的位置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54880"/>
            <a:ext cx="2011680" cy="77724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100" b="1">
                <a:solidFill>
                  <a:srgbClr val="333333"/>
                </a:solidFill>
                <a:latin typeface="Microsoft YaHei"/>
              </a:defRPr>
            </a:pPr>
            <a:r>
              <a:t>SimpleTransmission</a:t>
            </a:r>
          </a:p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修改 albedo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60320" y="5065776"/>
            <a:ext cx="274320" cy="146304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34640" y="4754880"/>
            <a:ext cx="201168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100" b="1">
                <a:solidFill>
                  <a:srgbClr val="333333"/>
                </a:solidFill>
                <a:latin typeface="Microsoft YaHei"/>
              </a:defRPr>
            </a:pPr>
            <a:r>
              <a:t>DiffuseBRDF</a:t>
            </a:r>
          </a:p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SigmoidSharp + Ramp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46320" y="5065776"/>
            <a:ext cx="274320" cy="146304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4754880"/>
            <a:ext cx="201168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100" b="1">
                <a:solidFill>
                  <a:srgbClr val="333333"/>
                </a:solidFill>
                <a:latin typeface="Microsoft YaHei"/>
              </a:defRPr>
            </a:pPr>
            <a:r>
              <a:t>SpecularBRDF</a:t>
            </a:r>
          </a:p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GGX 高光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32320" y="5065776"/>
            <a:ext cx="274320" cy="146304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06640" y="4754880"/>
            <a:ext cx="201168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100" b="1">
                <a:solidFill>
                  <a:srgbClr val="333333"/>
                </a:solidFill>
                <a:latin typeface="Microsoft YaHei"/>
              </a:defRPr>
            </a:pPr>
            <a:r>
              <a:t>IndirectLighting</a:t>
            </a:r>
          </a:p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能量守恒汇合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418320" y="5065776"/>
            <a:ext cx="274320" cy="146304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92640" y="4754880"/>
            <a:ext cx="201168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100" b="1">
                <a:solidFill>
                  <a:srgbClr val="333333"/>
                </a:solidFill>
                <a:latin typeface="Microsoft YaHei"/>
              </a:defRPr>
            </a:pPr>
            <a:r>
              <a:t>风格化叠加</a:t>
            </a:r>
          </a:p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Fresnel/Rim/ThinFilm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92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albedo 在管线入口被修改 -&gt; 后续所有漫反射计算都基于混合后的 albedo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Microsoft YaHei"/>
              </a:defRPr>
            </a:pPr>
            <a:r>
              <a:t>5. 设计特点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Microsoft YaHei"/>
              </a:defRPr>
            </a:pPr>
            <a:r>
              <a:t>PBR-Toon 平衡 | 高度参数化 | 模块化架构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Microsoft YaHei"/>
              </a:defRPr>
            </a:pPr>
            <a:r>
              <a:t>PBR 与 Toon 的平衡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474720" cy="1371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4747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高光反射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保留完整 Cook-Torrance 微表面模型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34747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620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间接光照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保留 FGD 预积分和能量守恒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79"/>
            <a:ext cx="34747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1363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漫反射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519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通过 SigmoidSharp + Ramp 风格化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92040"/>
            <a:ext cx="34747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965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效果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PBR 光照环境中物理一致 + 卡通手绘感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Microsoft YaHei"/>
              </a:defRPr>
            </a:pPr>
            <a:r>
              <a:t>高度参数化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1554480"/>
            <a:ext cx="3474720" cy="1371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0" y="1737360"/>
            <a:ext cx="34747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8105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51 个参数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覆盖材质各个维度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2788920"/>
            <a:ext cx="34747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8620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7 个开关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按需启用/禁用特定效果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840479"/>
            <a:ext cx="34747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91363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逐区域控制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2519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遮罩加权，不同部位不同效果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4892040"/>
            <a:ext cx="34747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4965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美术友好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直觉化的面向美术参数设计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Microsoft YaHei"/>
              </a:defRPr>
            </a:pPr>
            <a:r>
              <a:t>模块化 Frame 架构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1554480"/>
            <a:ext cx="3474720" cy="1371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29600" y="1737360"/>
            <a:ext cx="34747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18105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15 个 Frame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各自独立，通过结构体传递数据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2788920"/>
            <a:ext cx="34747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28620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独立调试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单个模块可独立调试和替换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3840479"/>
            <a:ext cx="34747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391363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可扩展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42519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新效果作为新 Frame 插入，不影响已有模块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0" y="4892040"/>
            <a:ext cx="34747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60" y="4965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20 个子群组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SigmoidSharp、F_Schlick 等跨模块复用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943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功能开关：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920240" y="5897880"/>
            <a:ext cx="160020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11680" y="591616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  <a:latin typeface="Consolas"/>
              </a:defRPr>
            </a:pPr>
            <a:r>
              <a:t>UseAnisotropy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11680" y="619963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各向异性高光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57600" y="5897880"/>
            <a:ext cx="160020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91616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  <a:latin typeface="Consolas"/>
              </a:defRPr>
            </a:pPr>
            <a:r>
              <a:t>UseToonAniso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49040" y="619963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Toon 变体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94960" y="5897880"/>
            <a:ext cx="160020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0" y="591616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  <a:latin typeface="Consolas"/>
              </a:defRPr>
            </a:pPr>
            <a:r>
              <a:t>UseNormalTex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0" y="619963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法线贴图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132319" y="5897880"/>
            <a:ext cx="160020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23759" y="591616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  <a:latin typeface="Consolas"/>
              </a:defRPr>
            </a:pPr>
            <a:r>
              <a:t>UseRSEff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59" y="619963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视角色变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869680" y="5897880"/>
            <a:ext cx="160020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61120" y="591616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  <a:latin typeface="Consolas"/>
              </a:defRPr>
            </a:pPr>
            <a:r>
              <a:t>UseSimpleTransmission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61120" y="619963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伪透射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607040" y="5897880"/>
            <a:ext cx="160020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698480" y="591616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  <a:latin typeface="Consolas"/>
              </a:defRPr>
            </a:pPr>
            <a:r>
              <a:t>IsSkin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98480" y="619963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皮肤材质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Microsoft YaHei"/>
              </a:defRPr>
            </a:pPr>
            <a:r>
              <a:t>6. 贴图通道约定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Microsoft YaHei"/>
              </a:defRPr>
            </a:pPr>
            <a:r>
              <a:t>PBRToonBase 贴图打包规范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188720"/>
            <a:ext cx="886968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52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贴图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2527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通道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252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语义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252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色彩空间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1691640"/>
            <a:ext cx="886968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onsolas"/>
              </a:defRPr>
            </a:pPr>
            <a:r>
              <a:t>_D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737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RGB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Albedo 颜色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sRGB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2130552"/>
            <a:ext cx="88696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1762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onsolas"/>
              </a:defRPr>
            </a:pPr>
            <a:r>
              <a:t>_D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1762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1762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Alpha 遮罩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76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2569464"/>
            <a:ext cx="886968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26151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onsolas"/>
              </a:defRPr>
            </a:pPr>
            <a:r>
              <a:t>_N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6151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RG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6151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切线空间法线 XY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15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Non-Color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" y="3008376"/>
            <a:ext cx="88696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30540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onsolas"/>
              </a:defRPr>
            </a:pPr>
            <a:r>
              <a:t>_P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05409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0540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Metallic 金属度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0540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Non-Color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88720" y="3447288"/>
            <a:ext cx="886968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34930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onsolas"/>
              </a:defRPr>
            </a:pPr>
            <a:r>
              <a:t>_P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4930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3493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AO / directOcclusion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493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Non-Color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" y="3886200"/>
            <a:ext cx="88696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3931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onsolas"/>
              </a:defRPr>
            </a:pPr>
            <a:r>
              <a:t>_P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3931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Smoothness 感知平滑度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Non-Color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88720" y="4325112"/>
            <a:ext cx="886968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43708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onsolas"/>
              </a:defRPr>
            </a:pPr>
            <a:r>
              <a:t>_P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43708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43708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RampUV（Toon Ramp 行选择）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3708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Non-Color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" y="4764024"/>
            <a:ext cx="88696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1600" y="48097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onsolas"/>
              </a:defRPr>
            </a:pPr>
            <a:r>
              <a:t>_E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48097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RGB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0" y="48097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Emission 自发光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4809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Non-Color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88720" y="5202936"/>
            <a:ext cx="886968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71600" y="52486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onsolas"/>
              </a:defRPr>
            </a:pPr>
            <a:r>
              <a:t>_M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52486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RGBA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5248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遮罩（部分材质使用）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52486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Non-Color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88720" y="5641848"/>
            <a:ext cx="88696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71600" y="56875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onsolas"/>
              </a:defRPr>
            </a:pPr>
            <a:r>
              <a:t>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0" y="56875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0" y="56875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视角色变 LUT（Aurora / Yvonne）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5687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Linear/sRGB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71600" y="6217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_P 贴图：4 通道 = Metallic + AO + Smoothness + RampUV（最大化通道打包利用率）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1A1A1A"/>
                </a:solidFill>
                <a:latin typeface="Consolas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926080"/>
            <a:ext cx="2133295" cy="228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PBRToonBase  |  PBR + Toon 混合渲染管线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Arknights: Endfield  /  Goo Engine 4.4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754880"/>
            <a:ext cx="22860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4846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物理基础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52120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Cook-Torrance GGX</a:t>
            </a:r>
          </a:p>
          <a:p>
            <a:pPr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能量守恒补偿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4754880"/>
            <a:ext cx="22860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4846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Toon 风格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52120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SigmoidSharp 阶跃</a:t>
            </a:r>
          </a:p>
          <a:p>
            <a:pPr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Ramp 色带采样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754880"/>
            <a:ext cx="22860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846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风格化效果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52120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Fresnel 边缘色 + Rim</a:t>
            </a:r>
          </a:p>
          <a:p>
            <a:pPr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ThinFilm + 伪透射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4754880"/>
            <a:ext cx="22860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19" y="4846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模块化架构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52120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15 个 Frame 模块</a:t>
            </a:r>
          </a:p>
          <a:p>
            <a:pPr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20 个复用子群组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